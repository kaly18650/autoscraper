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notesMasterIdLst>
    <p:notesMasterId r:id="rId9"/>
  </p:notesMasterIdLst>
  <p:handoutMasterIdLst>
    <p:handoutMasterId r:id="rId10"/>
  </p:handoutMasterIdLst>
  <p:sldIdLst>
    <p:sldId id="290" r:id="rId5"/>
    <p:sldId id="293" r:id="rId6"/>
    <p:sldId id="294" r:id="rId7"/>
    <p:sldId id="29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17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3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0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4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8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3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9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4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9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4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29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77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50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36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3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75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3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8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26D2155-7EEA-0223-7A2F-A8B9D4666A12}"/>
              </a:ext>
            </a:extLst>
          </p:cNvPr>
          <p:cNvSpPr/>
          <p:nvPr/>
        </p:nvSpPr>
        <p:spPr>
          <a:xfrm>
            <a:off x="5176682" y="3200399"/>
            <a:ext cx="1838633" cy="9144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Orchestrator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E3EAC52-FCE9-B0A2-13C1-64E4A91EA65B}"/>
              </a:ext>
            </a:extLst>
          </p:cNvPr>
          <p:cNvSpPr/>
          <p:nvPr/>
        </p:nvSpPr>
        <p:spPr>
          <a:xfrm>
            <a:off x="5314336" y="5444612"/>
            <a:ext cx="1563327" cy="75708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Coder</a:t>
            </a:r>
          </a:p>
        </p:txBody>
      </p:sp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F37377C7-A840-329D-3537-C487ABC18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2844" y="1231488"/>
            <a:ext cx="914400" cy="9144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5FF896-BCA6-1A06-C480-1B5D9138F3AA}"/>
              </a:ext>
            </a:extLst>
          </p:cNvPr>
          <p:cNvSpPr/>
          <p:nvPr/>
        </p:nvSpPr>
        <p:spPr>
          <a:xfrm>
            <a:off x="8920481" y="6029347"/>
            <a:ext cx="3009848" cy="757084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All agents developed using ADK and powered by      Gemini 2.5 Flash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49DF0B2E-B2BC-F076-819E-829B6ED8246E}"/>
              </a:ext>
            </a:extLst>
          </p:cNvPr>
          <p:cNvCxnSpPr>
            <a:cxnSpLocks/>
            <a:stCxn id="3" idx="4"/>
            <a:endCxn id="5" idx="2"/>
          </p:cNvCxnSpPr>
          <p:nvPr/>
        </p:nvCxnSpPr>
        <p:spPr>
          <a:xfrm rot="16200000" flipH="1">
            <a:off x="2948447" y="3457265"/>
            <a:ext cx="1821428" cy="2910350"/>
          </a:xfrm>
          <a:prstGeom prst="curvedConnector2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EC4731F-FC41-85B6-31AC-759C59A2D72E}"/>
              </a:ext>
            </a:extLst>
          </p:cNvPr>
          <p:cNvCxnSpPr>
            <a:cxnSpLocks/>
            <a:stCxn id="4" idx="4"/>
            <a:endCxn id="5" idx="6"/>
          </p:cNvCxnSpPr>
          <p:nvPr/>
        </p:nvCxnSpPr>
        <p:spPr>
          <a:xfrm rot="5400000">
            <a:off x="7461459" y="3417932"/>
            <a:ext cx="1821427" cy="2989017"/>
          </a:xfrm>
          <a:prstGeom prst="curvedConnector2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457935-D058-689B-0AD0-827B3F7D2E05}"/>
              </a:ext>
            </a:extLst>
          </p:cNvPr>
          <p:cNvCxnSpPr>
            <a:stCxn id="3" idx="6"/>
            <a:endCxn id="2" idx="2"/>
          </p:cNvCxnSpPr>
          <p:nvPr/>
        </p:nvCxnSpPr>
        <p:spPr>
          <a:xfrm>
            <a:off x="3244644" y="3650223"/>
            <a:ext cx="1932038" cy="737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543AA5-F20C-DA1A-27B0-4FD776A32802}"/>
              </a:ext>
            </a:extLst>
          </p:cNvPr>
          <p:cNvCxnSpPr>
            <a:stCxn id="2" idx="6"/>
            <a:endCxn id="4" idx="2"/>
          </p:cNvCxnSpPr>
          <p:nvPr/>
        </p:nvCxnSpPr>
        <p:spPr>
          <a:xfrm flipV="1">
            <a:off x="7015315" y="3650224"/>
            <a:ext cx="1932048" cy="737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DA71A1-E21A-33F4-0371-91FE50864546}"/>
              </a:ext>
            </a:extLst>
          </p:cNvPr>
          <p:cNvCxnSpPr>
            <a:stCxn id="2" idx="4"/>
            <a:endCxn id="5" idx="0"/>
          </p:cNvCxnSpPr>
          <p:nvPr/>
        </p:nvCxnSpPr>
        <p:spPr>
          <a:xfrm>
            <a:off x="6095999" y="4114799"/>
            <a:ext cx="1" cy="1329813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2F23B7A-DE20-DB16-FFCF-0FDE205E81BD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632232" y="2258962"/>
            <a:ext cx="813712" cy="10753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FC355B0-E01C-9F6C-5D89-F724F95FBDEA}"/>
              </a:ext>
            </a:extLst>
          </p:cNvPr>
          <p:cNvCxnSpPr>
            <a:cxnSpLocks/>
          </p:cNvCxnSpPr>
          <p:nvPr/>
        </p:nvCxnSpPr>
        <p:spPr>
          <a:xfrm flipV="1">
            <a:off x="4983987" y="1986832"/>
            <a:ext cx="2031328" cy="143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29558E-617C-5ED2-5B20-26D637371CA1}"/>
              </a:ext>
            </a:extLst>
          </p:cNvPr>
          <p:cNvSpPr txBox="1"/>
          <p:nvPr/>
        </p:nvSpPr>
        <p:spPr>
          <a:xfrm>
            <a:off x="3640388" y="2319173"/>
            <a:ext cx="914400" cy="57888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URL To Scrape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28803C-6943-5E24-63A5-01F48B9D6E41}"/>
              </a:ext>
            </a:extLst>
          </p:cNvPr>
          <p:cNvSpPr txBox="1"/>
          <p:nvPr/>
        </p:nvSpPr>
        <p:spPr>
          <a:xfrm>
            <a:off x="5061715" y="1600555"/>
            <a:ext cx="1750143" cy="30646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Fully tested scraper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524E95-A97D-5030-7BA2-5EBF49E2B394}"/>
              </a:ext>
            </a:extLst>
          </p:cNvPr>
          <p:cNvSpPr txBox="1"/>
          <p:nvPr/>
        </p:nvSpPr>
        <p:spPr>
          <a:xfrm>
            <a:off x="83991" y="3773432"/>
            <a:ext cx="2113517" cy="240887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200" dirty="0"/>
              <a:t>Analyze HTML and provide Key findings to:</a:t>
            </a:r>
          </a:p>
          <a:p>
            <a:pPr marL="228600" indent="-228600">
              <a:spcAft>
                <a:spcPts val="1800"/>
              </a:spcAft>
              <a:buAutoNum type="arabicPeriod"/>
            </a:pPr>
            <a:r>
              <a:rPr lang="en-US" sz="1200" b="1" dirty="0"/>
              <a:t>Orchestrator</a:t>
            </a:r>
            <a:r>
              <a:rPr lang="en-US" sz="1200" dirty="0"/>
              <a:t>, to decide on next step (if it is a 1 step scrape or 2 steps)</a:t>
            </a:r>
          </a:p>
          <a:p>
            <a:pPr marL="228600" indent="-228600">
              <a:spcAft>
                <a:spcPts val="1800"/>
              </a:spcAft>
              <a:buAutoNum type="arabicPeriod"/>
            </a:pPr>
            <a:r>
              <a:rPr lang="en-US" sz="1200" b="1" dirty="0"/>
              <a:t>Coder: </a:t>
            </a:r>
            <a:r>
              <a:rPr lang="en-US" sz="1200" dirty="0"/>
              <a:t>a JSON with the selectors it need to get.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0F60D7-9B7E-7E1B-777E-3814DA5ABD13}"/>
              </a:ext>
            </a:extLst>
          </p:cNvPr>
          <p:cNvSpPr txBox="1"/>
          <p:nvPr/>
        </p:nvSpPr>
        <p:spPr>
          <a:xfrm>
            <a:off x="5054391" y="6214485"/>
            <a:ext cx="2083213" cy="51077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Build the scraper based on Analyst input</a:t>
            </a:r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CDFC26D7-895B-C183-DC69-3667B35EAB54}"/>
              </a:ext>
            </a:extLst>
          </p:cNvPr>
          <p:cNvSpPr/>
          <p:nvPr/>
        </p:nvSpPr>
        <p:spPr>
          <a:xfrm>
            <a:off x="867695" y="1848777"/>
            <a:ext cx="1050834" cy="580104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Playwrite</a:t>
            </a:r>
            <a:endParaRPr lang="en-US" sz="1400" dirty="0"/>
          </a:p>
          <a:p>
            <a:pPr algn="ctr"/>
            <a:r>
              <a:rPr lang="en-US" sz="1400" dirty="0"/>
              <a:t>Browser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39A16D2-EC75-0F46-837A-5E7ED936C329}"/>
              </a:ext>
            </a:extLst>
          </p:cNvPr>
          <p:cNvCxnSpPr>
            <a:cxnSpLocks/>
          </p:cNvCxnSpPr>
          <p:nvPr/>
        </p:nvCxnSpPr>
        <p:spPr>
          <a:xfrm>
            <a:off x="1649345" y="2492774"/>
            <a:ext cx="548163" cy="80594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01E11C01-0169-96E5-7459-10EFB5F3A4A4}"/>
              </a:ext>
            </a:extLst>
          </p:cNvPr>
          <p:cNvSpPr/>
          <p:nvPr/>
        </p:nvSpPr>
        <p:spPr>
          <a:xfrm>
            <a:off x="9620290" y="1923490"/>
            <a:ext cx="2300746" cy="478711"/>
          </a:xfrm>
          <a:prstGeom prst="flowChartAlternateProcess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 Code Executer with error classification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87A75C9-9540-787A-6418-BE32275FAA76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10235810" y="2402201"/>
            <a:ext cx="534853" cy="87010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7369AE5-4280-1688-20D3-3A735E837FBA}"/>
              </a:ext>
            </a:extLst>
          </p:cNvPr>
          <p:cNvSpPr txBox="1"/>
          <p:nvPr/>
        </p:nvSpPr>
        <p:spPr>
          <a:xfrm>
            <a:off x="10004120" y="3911382"/>
            <a:ext cx="1838633" cy="15323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Run code and if issues found, decide if it is coding issue or HTML issue, and accordingly return it to the correct agent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ECF8033E-B721-EAE2-77E9-EC12E9755C0B}"/>
              </a:ext>
            </a:extLst>
          </p:cNvPr>
          <p:cNvSpPr/>
          <p:nvPr/>
        </p:nvSpPr>
        <p:spPr>
          <a:xfrm>
            <a:off x="6523700" y="2526594"/>
            <a:ext cx="1705900" cy="481780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Scraper Code Saved  to Bucket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94ACA54-249E-E53D-159D-F1E38AD0EF0B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6746053" y="3008374"/>
            <a:ext cx="131610" cy="32593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Google Cloud Storage Tutorial Part 1 | by Greg Wilson | Google Cloud -  Community | Medium">
            <a:extLst>
              <a:ext uri="{FF2B5EF4-FFF2-40B4-BE49-F238E27FC236}">
                <a16:creationId xmlns:a16="http://schemas.microsoft.com/office/drawing/2014/main" id="{E831A957-68A0-2E8A-1546-D0A16596B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495" y="1621098"/>
            <a:ext cx="668595" cy="66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8E67B89-035E-2968-030B-B8B1C731488D}"/>
              </a:ext>
            </a:extLst>
          </p:cNvPr>
          <p:cNvCxnSpPr>
            <a:cxnSpLocks/>
          </p:cNvCxnSpPr>
          <p:nvPr/>
        </p:nvCxnSpPr>
        <p:spPr>
          <a:xfrm flipV="1">
            <a:off x="7060495" y="2230700"/>
            <a:ext cx="146550" cy="317704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42F1F8EB-13B9-8D15-D568-642F988270BD}"/>
              </a:ext>
            </a:extLst>
          </p:cNvPr>
          <p:cNvSpPr txBox="1"/>
          <p:nvPr/>
        </p:nvSpPr>
        <p:spPr>
          <a:xfrm>
            <a:off x="1" y="353961"/>
            <a:ext cx="12192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Auto-Scraper</a:t>
            </a:r>
          </a:p>
          <a:p>
            <a:pPr algn="ctr"/>
            <a:r>
              <a:rPr lang="en-US" b="1" dirty="0"/>
              <a:t>AI-Powered Multi-Agent Web Scraping Pipeline</a:t>
            </a:r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E594713A-5876-B61B-90DF-3AD314EFC921}"/>
              </a:ext>
            </a:extLst>
          </p:cNvPr>
          <p:cNvCxnSpPr/>
          <p:nvPr/>
        </p:nvCxnSpPr>
        <p:spPr>
          <a:xfrm>
            <a:off x="2497394" y="1123336"/>
            <a:ext cx="71677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5" name="Picture 6" descr="Gemini (Google) Logo Free Download S... · LobeHub">
            <a:extLst>
              <a:ext uri="{FF2B5EF4-FFF2-40B4-BE49-F238E27FC236}">
                <a16:creationId xmlns:a16="http://schemas.microsoft.com/office/drawing/2014/main" id="{4E5534D9-A5CE-B6D5-08F1-D6F5580E5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2498" y="6560820"/>
            <a:ext cx="197792" cy="19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55BEC93-0773-7A48-F33A-D222ACCD61CF}"/>
              </a:ext>
            </a:extLst>
          </p:cNvPr>
          <p:cNvSpPr/>
          <p:nvPr/>
        </p:nvSpPr>
        <p:spPr>
          <a:xfrm>
            <a:off x="1563327" y="3298720"/>
            <a:ext cx="1681317" cy="7030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D4CF2D-0B4D-0CAE-CC81-0B9BD83054C8}"/>
              </a:ext>
            </a:extLst>
          </p:cNvPr>
          <p:cNvSpPr/>
          <p:nvPr/>
        </p:nvSpPr>
        <p:spPr>
          <a:xfrm>
            <a:off x="8947363" y="3298720"/>
            <a:ext cx="1838633" cy="70300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Validator</a:t>
            </a:r>
          </a:p>
        </p:txBody>
      </p:sp>
    </p:spTree>
    <p:extLst>
      <p:ext uri="{BB962C8B-B14F-4D97-AF65-F5344CB8AC3E}">
        <p14:creationId xmlns:p14="http://schemas.microsoft.com/office/powerpoint/2010/main" val="365108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5AF42-A5EE-4658-A6B2-2BE45EE0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Single line request from user with the desired URL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6D4CA-C9EF-176A-CA41-90D46DC5D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6" y="1872910"/>
            <a:ext cx="11173765" cy="496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0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C3E0-19AE-A2AE-9FC8-F665624B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After The Validator confirms that the code is working as expected, the code is saved and Orchestrator responds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680C6-F4EF-216E-DE6A-FAE258DDF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57" y="2161643"/>
            <a:ext cx="10601617" cy="470802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619461-A02B-87F5-4E87-C76B2469D81E}"/>
              </a:ext>
            </a:extLst>
          </p:cNvPr>
          <p:cNvSpPr/>
          <p:nvPr/>
        </p:nvSpPr>
        <p:spPr>
          <a:xfrm>
            <a:off x="2723103" y="5899356"/>
            <a:ext cx="934497" cy="15061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84082E-0CB4-C427-AF3A-B101A27E8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438" y="891023"/>
            <a:ext cx="6256562" cy="59669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0FF1B1-04D7-09C5-952C-4AA61FF5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471949"/>
            <a:ext cx="4780484" cy="1622322"/>
          </a:xfrm>
        </p:spPr>
        <p:txBody>
          <a:bodyPr/>
          <a:lstStyle/>
          <a:p>
            <a:r>
              <a:rPr lang="en-US" sz="2800" dirty="0"/>
              <a:t>Complete Scraper with clean and tested results in seconds, not days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37303-77EF-FBB3-47D0-275D87AA15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42" r="8099"/>
          <a:stretch>
            <a:fillRect/>
          </a:stretch>
        </p:blipFill>
        <p:spPr>
          <a:xfrm>
            <a:off x="98323" y="2668950"/>
            <a:ext cx="8278761" cy="403358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9349B7-70D8-9E01-5AC9-A2DBB2869BD9}"/>
              </a:ext>
            </a:extLst>
          </p:cNvPr>
          <p:cNvSpPr/>
          <p:nvPr/>
        </p:nvSpPr>
        <p:spPr>
          <a:xfrm>
            <a:off x="10621757" y="1577591"/>
            <a:ext cx="528024" cy="16547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641B75-E440-D26D-ED56-5C204C2EA161}"/>
              </a:ext>
            </a:extLst>
          </p:cNvPr>
          <p:cNvSpPr/>
          <p:nvPr/>
        </p:nvSpPr>
        <p:spPr>
          <a:xfrm>
            <a:off x="9274628" y="1723404"/>
            <a:ext cx="724778" cy="15593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478204-70A9-9630-9DEA-19AFFC5A0FE3}"/>
              </a:ext>
            </a:extLst>
          </p:cNvPr>
          <p:cNvSpPr/>
          <p:nvPr/>
        </p:nvSpPr>
        <p:spPr>
          <a:xfrm>
            <a:off x="6521379" y="1879341"/>
            <a:ext cx="1334595" cy="143469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254A9-17BE-81CA-EDEA-32B245D4CE3E}"/>
              </a:ext>
            </a:extLst>
          </p:cNvPr>
          <p:cNvSpPr/>
          <p:nvPr/>
        </p:nvSpPr>
        <p:spPr>
          <a:xfrm>
            <a:off x="9274628" y="1879341"/>
            <a:ext cx="960753" cy="143469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D78616-AF57-D1D5-682B-11F035A760B0}"/>
              </a:ext>
            </a:extLst>
          </p:cNvPr>
          <p:cNvSpPr/>
          <p:nvPr/>
        </p:nvSpPr>
        <p:spPr>
          <a:xfrm>
            <a:off x="7804809" y="1582212"/>
            <a:ext cx="1142545" cy="15593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32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105</TotalTime>
  <Words>151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Century Gothic</vt:lpstr>
      <vt:lpstr>Wingdings 3</vt:lpstr>
      <vt:lpstr>Ion Boardroom</vt:lpstr>
      <vt:lpstr>PowerPoint Presentation</vt:lpstr>
      <vt:lpstr>Single line request from user with the desired URL</vt:lpstr>
      <vt:lpstr>After The Validator confirms that the code is working as expected, the code is saved and Orchestrator responds</vt:lpstr>
      <vt:lpstr>Complete Scraper with clean and tested results in seconds, not days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Aly, khaled</dc:creator>
  <cp:lastModifiedBy>Aly, khaled</cp:lastModifiedBy>
  <cp:revision>10</cp:revision>
  <dcterms:created xsi:type="dcterms:W3CDTF">2025-11-30T17:39:19Z</dcterms:created>
  <dcterms:modified xsi:type="dcterms:W3CDTF">2025-11-30T19:28:49Z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